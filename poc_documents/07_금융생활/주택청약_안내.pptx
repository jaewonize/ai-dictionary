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DCCD1-279E-4648-BFA4-E737C36DD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955515-3A75-427E-AD42-40C30EBF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8FCFF-54AF-4A95-A297-10E49E70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AC398-C033-4A1F-BBF1-1739E2F38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81758-B137-4841-BC9D-6C43B12C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89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97910-471B-4831-999B-98D33F84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D1143A-0249-4699-829B-A3411568A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BEE0E-82CF-47F6-A4F7-21608970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ED50C3-1AFA-44C6-A6AC-6399414D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63FAC-ACF3-4862-A301-528FF7E5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38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80DB6-5060-49D2-A25D-EC2A9122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D78A10-AEE9-4FAC-98F8-8C965CA19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44216-74EB-47EF-BAC3-4FF7CCB4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17471-B132-42CE-B8A5-2C0667DF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9DBFD-6B30-42D4-AC8C-D32BBBAD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47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A3B4-0D88-4598-BE35-CAB6E751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39DCE9-1788-4A41-B7FB-885356755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93950D-CE5A-4BFE-9347-499590A8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C1C24A-91C9-4047-8FEC-07A32B41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0648D1-A9CA-44A4-BA27-D56E345B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6ABE5-D071-4C90-987F-B2DAC7AB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26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0C28C-825B-44C8-9CDF-FCF3D1DB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B9D31-0169-46CC-81E1-0E88DD25C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BF7C53-DE4F-4E1E-82D6-23737ACD7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ECFF5F-67A1-4635-A25D-B0B725BA2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D7461C-762C-4A29-A2B4-EB64A81F3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B5B991-1B51-450F-8C65-513AAF7E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923DAC-B3D8-49B9-8C9E-799DB535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915E9D-3582-4179-9525-A1120115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8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7B3BB-3142-4A66-B42C-3464CA52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10C2DC-FEB4-4359-B06A-47E4A443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66BD97-3BA5-4871-B591-EAF16ADA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551C8C-6B66-41B1-9701-72B5888F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89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623829-B064-4B10-A646-3A6AD554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7C586D-405D-40B4-B499-4DCB6DDF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A51068-C184-4FA0-8506-2698F017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73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3C041-4EA9-468E-A84D-37670C36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D1FD0-AC4B-4577-B430-B7536225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D0FAAC-BC97-48E0-A293-CF136EC5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A9E9E-8204-40AA-B7E7-46D103DC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76E90-ABD4-408A-8423-7099D64F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E8940E-3AE4-4F12-8AC8-29429129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37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20931-7A4B-451A-92DA-F1C2A9DD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89EF91-3414-434C-BCA2-8351FBC9A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000D08-6B75-4C1F-90A0-ADF34EB74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95F79B-EE7E-4290-8ADE-0DFB3C6F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1C5C14-9DEA-4FA3-AFAB-49CEF34C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149064-C4BA-4E8B-8775-13594D82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73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BFD91-6279-448A-AD40-6D799B46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D6145C-1CF5-4785-B8A0-327117FDD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09C444-13A2-4A84-AAD4-390D7376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700B2-8440-4240-98DB-4FBBDE8F6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626FED-3483-4E0C-83EE-E128AD2D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3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3D4B94-B99E-494A-B30B-026071E70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E63435-07D1-4FD5-B151-3533893BD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F819AD-2EF3-496C-9572-0116CF67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FCCC4-B556-4BC4-8362-8932703A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DB7B1-6C12-42A5-AEE1-72C1DC76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996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DCB4D-0124-4D82-B14E-E4BBC0A8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E2847F-B697-48E4-A6A1-4092CCCDB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2FBEF-C0D0-4E49-94D0-9149BF31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B7838-20F8-4CD9-81E6-5437FF83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BA505B-4572-43BB-BDB9-AB042BF2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90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223D78-85EC-4F28-9758-DEEA58B7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F4A7F6-F5F8-4244-A3AC-F6C265BAC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CD9C6A-57BD-407E-AD57-C01160E99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84155-0627-4D3F-B600-2637C9E7041C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9A472-8A14-4BF9-A32E-CB1B66D40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3A07F-F2EE-4A24-A523-42E9E2A94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FE225-C95B-4D3C-91B0-9414D32B73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2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4EE3C-DB81-4369-A4DD-69B2932A4B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주택청약 제도 안내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3BA8FC-7B1D-4ACA-BBF6-5B342FC2DF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인 가구 프리랜서 기준 정리 자료 </a:t>
            </a:r>
            <a:r>
              <a:rPr lang="en-US" altLang="ko-KR"/>
              <a:t>/ 2025-09-12 </a:t>
            </a:r>
            <a:r>
              <a:rPr lang="ko-KR" altLang="en-US"/>
              <a:t>설명회</a:t>
            </a:r>
          </a:p>
        </p:txBody>
      </p:sp>
    </p:spTree>
    <p:extLst>
      <p:ext uri="{BB962C8B-B14F-4D97-AF65-F5344CB8AC3E}">
        <p14:creationId xmlns:p14="http://schemas.microsoft.com/office/powerpoint/2010/main" val="176230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482FB-E4D7-451C-8826-725A1657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주택청약종합저축이란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4937E6-44AF-409B-8601-34C24182F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입주자저축의 단일 상품으로 국민주택과 민영주택 모두 청약 가능</a:t>
            </a:r>
          </a:p>
          <a:p>
            <a:r>
              <a:rPr lang="ko-KR" altLang="en-US"/>
              <a:t>나이와 세대주 여부에 관계없이 </a:t>
            </a:r>
            <a:r>
              <a:rPr lang="en-US" altLang="ko-KR"/>
              <a:t>1</a:t>
            </a:r>
            <a:r>
              <a:rPr lang="ko-KR" altLang="en-US"/>
              <a:t>인 </a:t>
            </a:r>
            <a:r>
              <a:rPr lang="en-US" altLang="ko-KR"/>
              <a:t>1</a:t>
            </a:r>
            <a:r>
              <a:rPr lang="ko-KR" altLang="en-US"/>
              <a:t>계좌만 개설</a:t>
            </a:r>
          </a:p>
          <a:p>
            <a:r>
              <a:rPr lang="ko-KR" altLang="en-US"/>
              <a:t>월 </a:t>
            </a:r>
            <a:r>
              <a:rPr lang="en-US" altLang="ko-KR"/>
              <a:t>2</a:t>
            </a:r>
            <a:r>
              <a:rPr lang="ko-KR" altLang="en-US"/>
              <a:t>만원 이상 </a:t>
            </a:r>
            <a:r>
              <a:rPr lang="en-US" altLang="ko-KR"/>
              <a:t>50</a:t>
            </a:r>
            <a:r>
              <a:rPr lang="ko-KR" altLang="en-US"/>
              <a:t>만원 이하 자유 납입</a:t>
            </a:r>
          </a:p>
          <a:p>
            <a:r>
              <a:rPr lang="ko-KR" altLang="en-US"/>
              <a:t>연 납입액 </a:t>
            </a:r>
            <a:r>
              <a:rPr lang="en-US" altLang="ko-KR"/>
              <a:t>300</a:t>
            </a:r>
            <a:r>
              <a:rPr lang="ko-KR" altLang="en-US"/>
              <a:t>만원 한도로 </a:t>
            </a:r>
            <a:r>
              <a:rPr lang="en-US" altLang="ko-KR"/>
              <a:t>40</a:t>
            </a:r>
            <a:r>
              <a:rPr lang="ko-KR" altLang="en-US"/>
              <a:t>퍼센트 소득공제 가능</a:t>
            </a:r>
          </a:p>
        </p:txBody>
      </p:sp>
    </p:spTree>
    <p:extLst>
      <p:ext uri="{BB962C8B-B14F-4D97-AF65-F5344CB8AC3E}">
        <p14:creationId xmlns:p14="http://schemas.microsoft.com/office/powerpoint/2010/main" val="139398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87149-80FF-4865-9245-D75E60AA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가입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6B0690-F23D-4A7C-A697-3731796C4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가입일 </a:t>
            </a:r>
            <a:r>
              <a:rPr lang="en-US" altLang="ko-KR"/>
              <a:t>2024-02-14, </a:t>
            </a:r>
            <a:r>
              <a:rPr lang="ko-KR" altLang="en-US"/>
              <a:t>하늘은행</a:t>
            </a:r>
          </a:p>
          <a:p>
            <a:r>
              <a:rPr lang="ko-KR" altLang="en-US"/>
              <a:t>월 </a:t>
            </a:r>
            <a:r>
              <a:rPr lang="en-US" altLang="ko-KR"/>
              <a:t>10</a:t>
            </a:r>
            <a:r>
              <a:rPr lang="ko-KR" altLang="en-US"/>
              <a:t>만원 자동이체 유지 중</a:t>
            </a:r>
          </a:p>
          <a:p>
            <a:r>
              <a:rPr lang="ko-KR" altLang="en-US"/>
              <a:t>납입 인정 횟수 </a:t>
            </a:r>
            <a:r>
              <a:rPr lang="en-US" altLang="ko-KR"/>
              <a:t>19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납입 인정 금액 </a:t>
            </a:r>
            <a:r>
              <a:rPr lang="en-US" altLang="ko-KR"/>
              <a:t>190</a:t>
            </a:r>
            <a:r>
              <a:rPr lang="ko-KR" altLang="en-US"/>
              <a:t>만원</a:t>
            </a:r>
          </a:p>
          <a:p>
            <a:r>
              <a:rPr lang="ko-KR" altLang="en-US"/>
              <a:t>총 예치금 </a:t>
            </a:r>
            <a:r>
              <a:rPr lang="en-US" altLang="ko-KR"/>
              <a:t>240</a:t>
            </a:r>
            <a:r>
              <a:rPr lang="ko-KR" altLang="en-US"/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356499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737E3-E016-4F9F-9A62-E26804EF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국민주택 청약 요건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2ADDB-7AAB-49F0-8CA5-9AA09A86D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전용 </a:t>
            </a:r>
            <a:r>
              <a:rPr lang="en-US" altLang="ko-KR"/>
              <a:t>85</a:t>
            </a:r>
            <a:r>
              <a:rPr lang="ko-KR" altLang="en-US"/>
              <a:t>제곱미터 이하</a:t>
            </a:r>
            <a:r>
              <a:rPr lang="en-US" altLang="ko-KR"/>
              <a:t>, </a:t>
            </a:r>
            <a:r>
              <a:rPr lang="ko-KR" altLang="en-US"/>
              <a:t>공공이 건설하거나 지원하는 주택</a:t>
            </a:r>
          </a:p>
          <a:p>
            <a:r>
              <a:rPr lang="ko-KR" altLang="en-US"/>
              <a:t>수도권 기준 가입 후 </a:t>
            </a:r>
            <a:r>
              <a:rPr lang="en-US" altLang="ko-KR"/>
              <a:t>12</a:t>
            </a:r>
            <a:r>
              <a:rPr lang="ko-KR" altLang="en-US"/>
              <a:t>개월 경과 및 납입 인정 </a:t>
            </a:r>
            <a:r>
              <a:rPr lang="en-US" altLang="ko-KR"/>
              <a:t>12</a:t>
            </a:r>
            <a:r>
              <a:rPr lang="ko-KR" altLang="en-US"/>
              <a:t>회 이상</a:t>
            </a:r>
          </a:p>
          <a:p>
            <a:r>
              <a:rPr lang="ko-KR" altLang="en-US"/>
              <a:t>순위는 납입 인정 횟수와 저축 총액으로 결정</a:t>
            </a:r>
          </a:p>
          <a:p>
            <a:r>
              <a:rPr lang="ko-KR" altLang="en-US"/>
              <a:t>무주택 세대구성원 요건 충족 필요</a:t>
            </a:r>
          </a:p>
        </p:txBody>
      </p:sp>
    </p:spTree>
    <p:extLst>
      <p:ext uri="{BB962C8B-B14F-4D97-AF65-F5344CB8AC3E}">
        <p14:creationId xmlns:p14="http://schemas.microsoft.com/office/powerpoint/2010/main" val="8283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12A17-490D-4D93-A451-016B3EBE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민영주택 청약 요건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F13EEE-C506-4241-8012-450A3FD5E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지역별 예치금 기준 충족 시 면적별 청약 가능</a:t>
            </a:r>
          </a:p>
          <a:p>
            <a:r>
              <a:rPr lang="ko-KR" altLang="en-US"/>
              <a:t>서울 기준 </a:t>
            </a:r>
            <a:r>
              <a:rPr lang="en-US" altLang="ko-KR"/>
              <a:t>85</a:t>
            </a:r>
            <a:r>
              <a:rPr lang="ko-KR" altLang="en-US"/>
              <a:t>제곱미터 이하는 예치금 </a:t>
            </a:r>
            <a:r>
              <a:rPr lang="en-US" altLang="ko-KR"/>
              <a:t>300</a:t>
            </a:r>
            <a:r>
              <a:rPr lang="ko-KR" altLang="en-US"/>
              <a:t>만원</a:t>
            </a:r>
          </a:p>
          <a:p>
            <a:r>
              <a:rPr lang="ko-KR" altLang="en-US"/>
              <a:t>가점제와 추첨제 병행</a:t>
            </a:r>
            <a:r>
              <a:rPr lang="en-US" altLang="ko-KR"/>
              <a:t>, 1</a:t>
            </a:r>
            <a:r>
              <a:rPr lang="ko-KR" altLang="en-US"/>
              <a:t>인 가구는 추첨제 비중이 중요</a:t>
            </a:r>
          </a:p>
          <a:p>
            <a:r>
              <a:rPr lang="ko-KR" altLang="en-US"/>
              <a:t>무주택 기간과 부양가족 수에 따라 가점 산정</a:t>
            </a:r>
          </a:p>
        </p:txBody>
      </p:sp>
    </p:spTree>
    <p:extLst>
      <p:ext uri="{BB962C8B-B14F-4D97-AF65-F5344CB8AC3E}">
        <p14:creationId xmlns:p14="http://schemas.microsoft.com/office/powerpoint/2010/main" val="359178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1F2A8-F513-4C39-BC7D-16AA6402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소득공제 적용 조건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76797-4579-489D-AB55-A72F7C803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총급여 </a:t>
            </a:r>
            <a:r>
              <a:rPr lang="en-US" altLang="ko-KR"/>
              <a:t>7</a:t>
            </a:r>
            <a:r>
              <a:rPr lang="ko-KR" altLang="en-US"/>
              <a:t>천만원 이하 무주택 세대주가 대상</a:t>
            </a:r>
          </a:p>
          <a:p>
            <a:r>
              <a:rPr lang="ko-KR" altLang="en-US"/>
              <a:t>프리랜서는 사업소득 기준으로 요건 확인 필요</a:t>
            </a:r>
          </a:p>
          <a:p>
            <a:r>
              <a:rPr lang="ko-KR" altLang="en-US"/>
              <a:t>무주택확인서를 은행에 제출해야 공제 적용</a:t>
            </a:r>
          </a:p>
          <a:p>
            <a:r>
              <a:rPr lang="ko-KR" altLang="en-US"/>
              <a:t>연 납입 </a:t>
            </a:r>
            <a:r>
              <a:rPr lang="en-US" altLang="ko-KR"/>
              <a:t>240</a:t>
            </a:r>
            <a:r>
              <a:rPr lang="ko-KR" altLang="en-US"/>
              <a:t>만원이면 공제 대상액 </a:t>
            </a:r>
            <a:r>
              <a:rPr lang="en-US" altLang="ko-KR"/>
              <a:t>240</a:t>
            </a:r>
            <a:r>
              <a:rPr lang="ko-KR" altLang="en-US"/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364024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41E4A-2B20-4DA8-AAA6-B925BF1C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주의 사항과 다음 단계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51D9D4-4024-4D49-AE04-07126EEC0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5</a:t>
            </a:r>
            <a:r>
              <a:rPr lang="ko-KR" altLang="en-US"/>
              <a:t>년 내 중도 해지 시 공제받은 세액이 추징될 수 있음</a:t>
            </a:r>
          </a:p>
          <a:p>
            <a:r>
              <a:rPr lang="ko-KR" altLang="en-US"/>
              <a:t>청약 당첨 후 계약 포기도 재당첨 제한 대상</a:t>
            </a:r>
          </a:p>
          <a:p>
            <a:r>
              <a:rPr lang="ko-KR" altLang="en-US"/>
              <a:t>무주택확인서 제출 여부를 연말정산 전 재확인</a:t>
            </a:r>
          </a:p>
          <a:p>
            <a:r>
              <a:rPr lang="ko-KR" altLang="en-US"/>
              <a:t>리모델링 계획과 자금 일정이 겹치므로 해지 대신 납입 유지 결정</a:t>
            </a:r>
          </a:p>
        </p:txBody>
      </p:sp>
    </p:spTree>
    <p:extLst>
      <p:ext uri="{BB962C8B-B14F-4D97-AF65-F5344CB8AC3E}">
        <p14:creationId xmlns:p14="http://schemas.microsoft.com/office/powerpoint/2010/main" val="3589768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와이드스크린</PresentationFormat>
  <Paragraphs>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주택청약 제도 안내</vt:lpstr>
      <vt:lpstr>주택청약종합저축이란</vt:lpstr>
      <vt:lpstr>가입 현황</vt:lpstr>
      <vt:lpstr>국민주택 청약 요건</vt:lpstr>
      <vt:lpstr>민영주택 청약 요건</vt:lpstr>
      <vt:lpstr>소득공제 적용 조건</vt:lpstr>
      <vt:lpstr>주의 사항과 다음 단계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주택청약 제도 안내</dc:title>
  <dc:creator>정재원/UX Innovation Lab(SR)/삼성전자</dc:creator>
  <cp:lastModifiedBy>정재원/UX Innovation Lab(SR)/삼성전자</cp:lastModifiedBy>
  <cp:revision>1</cp:revision>
  <dcterms:created xsi:type="dcterms:W3CDTF">2026-10-14T07:53:42Z</dcterms:created>
  <dcterms:modified xsi:type="dcterms:W3CDTF">2026-10-14T07:53:42Z</dcterms:modified>
</cp:coreProperties>
</file>